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F4F7"/>
                </a:solidFill>
                <a:latin typeface="Cambria"/>
              </a:rPr>
              <a:t>Beyond the Baseline: </a:t>
            </a:r>
            <a:r>
              <a:rPr sz="3200" b="1" i="0">
                <a:solidFill>
                  <a:srgbClr val="E5484D"/>
                </a:solidFill>
                <a:latin typeface="Cambria"/>
              </a:rPr>
              <a:t>Alternative Attack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AA6B2"/>
                </a:solidFill>
                <a:latin typeface="Calibri"/>
              </a:rPr>
              <a:t>The baseline injection forwards a 2FA code to a plaintext attacker@mail.com — easy to catch by matching the address. These variants hide the sink so naive email / keyword filtering fails.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36192"/>
            <a:ext cx="3503066" cy="2304288"/>
          </a:xfrm>
          <a:prstGeom prst="roundRect">
            <a:avLst>
              <a:gd name="adj" fmla="val 7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773936"/>
            <a:ext cx="502920" cy="50292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739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1728216"/>
            <a:ext cx="236006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mbria"/>
              </a:rPr>
              <a:t>Address Obfuscation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8880"/>
            <a:ext cx="2991002" cy="457200"/>
          </a:xfrm>
          <a:prstGeom prst="roundRect">
            <a:avLst>
              <a:gd name="adj" fmla="val 12000"/>
            </a:avLst>
          </a:prstGeom>
          <a:solidFill>
            <a:srgbClr val="0F1318"/>
          </a:solidFill>
          <a:ln w="9525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468880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2A20C"/>
                </a:solidFill>
                <a:latin typeface="Courier New"/>
              </a:rPr>
              <a:t>attacker [at] mail [dot] 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54096"/>
            <a:ext cx="299100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2"/>
                </a:solidFill>
                <a:latin typeface="Calibri"/>
              </a:rPr>
              <a:t>Break the @ and dots so a regex / exact-match for an email never fires. Also: (at), ·, full-width chars.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1536192"/>
            <a:ext cx="3503066" cy="2304288"/>
          </a:xfrm>
          <a:prstGeom prst="roundRect">
            <a:avLst>
              <a:gd name="adj" fmla="val 7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0346" y="1773936"/>
            <a:ext cx="502920" cy="502920"/>
          </a:xfrm>
          <a:prstGeom prst="ellipse">
            <a:avLst/>
          </a:prstGeom>
          <a:solidFill>
            <a:srgbClr val="F2A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346" y="17739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7858" y="1728216"/>
            <a:ext cx="236006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mbria"/>
              </a:rPr>
              <a:t>Encode the Sink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0346" y="2468880"/>
            <a:ext cx="2991002" cy="457200"/>
          </a:xfrm>
          <a:prstGeom prst="roundRect">
            <a:avLst>
              <a:gd name="adj" fmla="val 12000"/>
            </a:avLst>
          </a:prstGeom>
          <a:solidFill>
            <a:srgbClr val="0F1318"/>
          </a:solidFill>
          <a:ln w="9525">
            <a:solidFill>
              <a:srgbClr val="F2A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498" y="2468880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2A20C"/>
                </a:solidFill>
                <a:latin typeface="Courier New"/>
              </a:rPr>
              <a:t>decode(YXR0YWNrZXJAbWFpbC5jb20=)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346" y="3054096"/>
            <a:ext cx="299100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2"/>
                </a:solidFill>
                <a:latin typeface="Calibri"/>
              </a:rPr>
              <a:t>Base64 / hex / ROT13 the address and tell the agent to decode it. The filter sees no address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1428" y="1536192"/>
            <a:ext cx="3503066" cy="2304288"/>
          </a:xfrm>
          <a:prstGeom prst="roundRect">
            <a:avLst>
              <a:gd name="adj" fmla="val 7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87460" y="1773936"/>
            <a:ext cx="502920" cy="50292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7460" y="17739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4972" y="1728216"/>
            <a:ext cx="236006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mbria"/>
              </a:rPr>
              <a:t>Homoglyph / Typosquat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7460" y="2468880"/>
            <a:ext cx="2991002" cy="457200"/>
          </a:xfrm>
          <a:prstGeom prst="roundRect">
            <a:avLst>
              <a:gd name="adj" fmla="val 12000"/>
            </a:avLst>
          </a:prstGeom>
          <a:solidFill>
            <a:srgbClr val="0F1318"/>
          </a:solidFill>
          <a:ln w="9525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0612" y="2468880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2A20C"/>
                </a:solidFill>
                <a:latin typeface="Courier New"/>
              </a:rPr>
              <a:t>attacker@gmаil.com  ·  compnay.com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7460" y="3054096"/>
            <a:ext cx="299100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2"/>
                </a:solidFill>
                <a:latin typeface="Calibri"/>
              </a:rPr>
              <a:t>Cyrillic / Greek lookalikes or near-miss domains pass a visual check and defeat a domain allow/deny 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3503066" cy="2304288"/>
          </a:xfrm>
          <a:prstGeom prst="roundRect">
            <a:avLst>
              <a:gd name="adj" fmla="val 7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" y="4352544"/>
            <a:ext cx="502920" cy="502920"/>
          </a:xfrm>
          <a:prstGeom prst="ellipse">
            <a:avLst/>
          </a:prstGeom>
          <a:solidFill>
            <a:srgbClr val="F2A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" y="4306824"/>
            <a:ext cx="236006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mbria"/>
              </a:rPr>
              <a:t>Indirect Reference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047488"/>
            <a:ext cx="2991002" cy="457200"/>
          </a:xfrm>
          <a:prstGeom prst="roundRect">
            <a:avLst>
              <a:gd name="adj" fmla="val 12000"/>
            </a:avLst>
          </a:prstGeom>
          <a:solidFill>
            <a:srgbClr val="0F1318"/>
          </a:solidFill>
          <a:ln w="9525">
            <a:solidFill>
              <a:srgbClr val="F2A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047488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2A20C"/>
                </a:solidFill>
                <a:latin typeface="Courier New"/>
              </a:rPr>
              <a:t>“reply to the sender of email #4”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32703"/>
            <a:ext cx="299100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2"/>
                </a:solidFill>
                <a:latin typeface="Calibri"/>
              </a:rPr>
              <a:t>The payload carries no address — it points at one already in the mailbox, so there is nothing to match.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4314" y="4114800"/>
            <a:ext cx="3503066" cy="2304288"/>
          </a:xfrm>
          <a:prstGeom prst="roundRect">
            <a:avLst>
              <a:gd name="adj" fmla="val 7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00346" y="4352544"/>
            <a:ext cx="502920" cy="50292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0346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mbr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7858" y="4306824"/>
            <a:ext cx="236006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mbria"/>
              </a:rPr>
              <a:t>Channel Switching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00346" y="5047488"/>
            <a:ext cx="2991002" cy="457200"/>
          </a:xfrm>
          <a:prstGeom prst="roundRect">
            <a:avLst>
              <a:gd name="adj" fmla="val 12000"/>
            </a:avLst>
          </a:prstGeom>
          <a:solidFill>
            <a:srgbClr val="0F1318"/>
          </a:solidFill>
          <a:ln w="9525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3498" y="5047488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2A20C"/>
                </a:solidFill>
                <a:latin typeface="Courier New"/>
              </a:rPr>
              <a:t>webhook · Reply-To · calendar invite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0346" y="5632703"/>
            <a:ext cx="299100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2"/>
                </a:solidFill>
                <a:latin typeface="Calibri"/>
              </a:rPr>
              <a:t>Exfiltrate without a forward: a URL / image beacon, a crafted Reply-To, a draft, or a calendar guest field.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1428" y="4114800"/>
            <a:ext cx="3503066" cy="2304288"/>
          </a:xfrm>
          <a:prstGeom prst="roundRect">
            <a:avLst>
              <a:gd name="adj" fmla="val 7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87460" y="4352544"/>
            <a:ext cx="502920" cy="502920"/>
          </a:xfrm>
          <a:prstGeom prst="ellipse">
            <a:avLst/>
          </a:prstGeom>
          <a:solidFill>
            <a:srgbClr val="F2A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7460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A1A"/>
                </a:solidFill>
                <a:latin typeface="Cambria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4972" y="4306824"/>
            <a:ext cx="236006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mbria"/>
              </a:rPr>
              <a:t>Instruction Camouflage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87460" y="5047488"/>
            <a:ext cx="2991002" cy="457200"/>
          </a:xfrm>
          <a:prstGeom prst="roundRect">
            <a:avLst>
              <a:gd name="adj" fmla="val 12000"/>
            </a:avLst>
          </a:prstGeom>
          <a:solidFill>
            <a:srgbClr val="0F1318"/>
          </a:solidFill>
          <a:ln w="9525">
            <a:solidFill>
              <a:srgbClr val="F2A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0612" y="5047488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2A20C"/>
                </a:solidFill>
                <a:latin typeface="Courier New"/>
              </a:rPr>
              <a:t>split mails · language switch · role-play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7460" y="5632703"/>
            <a:ext cx="299100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6B2"/>
                </a:solidFill>
                <a:latin typeface="Calibri"/>
              </a:rPr>
              <a:t>Spread the instruction over several mails or wrap it in another language / persona to dodge intent keywords.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Calibri"/>
              </a:rPr>
              <a:t>MailMate — adversarial robustness study · defensive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